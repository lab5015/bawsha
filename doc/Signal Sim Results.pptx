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4" r:id="rId2"/>
    <p:sldId id="266" r:id="rId3"/>
    <p:sldId id="272" r:id="rId4"/>
    <p:sldId id="274" r:id="rId5"/>
    <p:sldId id="273" r:id="rId6"/>
    <p:sldId id="275" r:id="rId7"/>
    <p:sldId id="281" r:id="rId8"/>
    <p:sldId id="276" r:id="rId9"/>
    <p:sldId id="277" r:id="rId10"/>
    <p:sldId id="280" r:id="rId11"/>
    <p:sldId id="278" r:id="rId12"/>
    <p:sldId id="282" r:id="rId13"/>
    <p:sldId id="283" r:id="rId14"/>
    <p:sldId id="285" r:id="rId15"/>
    <p:sldId id="286" r:id="rId16"/>
    <p:sldId id="271" r:id="rId17"/>
    <p:sldId id="262" r:id="rId18"/>
    <p:sldId id="265" r:id="rId19"/>
    <p:sldId id="263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7EF08-6EB8-4A78-9701-EE8A1499A67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21EA1-B233-436A-A3CA-70B0BD1A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6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8AF8-03D3-B642-B259-5C10F5AF9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58C95-0C2A-8025-DC9D-B5AE6FE6D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C55A0-F556-A23F-D5AF-F6EB06FB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2594C-8527-24D7-63C3-35D8F49D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A05D2-C707-FAEB-E135-CD9E88BA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1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F423-619C-843C-E31B-ADBDF2DF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42F5-E7A8-19E6-A16C-C466B5B64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55F3E-1E9F-C574-B1B1-5C7345FA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513D9-BDF6-D44B-EC42-F7279B42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84412-9471-9D01-11DD-B71B18D2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E2A0-3B12-6A10-E6AC-F8FD1891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A4366-9E91-1F91-7B21-1A1EAA434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44BDD-8BD5-454F-1D0C-D8554135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0DF8-5DD1-ADBE-CDB7-E0A541D6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791E2-5758-AA7A-3A8B-83C7958F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5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8BDB-10C5-6A8E-5EBC-DD4ECF05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47BE-DB46-4922-DE90-DE329CE38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2D0BF-1F34-8666-44EB-3D4F9E5C2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FDCB8-A6F0-A772-7E8D-9B14686B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EC66-BEBB-468D-017F-4BC1C12A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D83A1-6913-BB4D-47CB-0AEB11BF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1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7903-7F58-05F7-2ED6-291EC141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95F7E-2CEA-5E1B-BE06-F84CC9463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68F33-2991-AE9E-004A-63214BFE4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B549A-A07C-3BEA-451E-075B2BAE6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B850C-B8B0-A660-2654-EC90D400F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207D8-E910-4D6E-7C61-59AD33F7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42425-33DD-852F-5C5D-FB139AA0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BC98C-7506-B354-A292-DEA7D33B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3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3858-347D-8720-CCB1-A087C83D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AEB91-F4AB-0E6D-9218-F96BC822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3FEE0-29F7-E849-7A2A-20B6056E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60DCE-2043-4F8D-E86B-1F062CFD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9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FC97A-9B3B-4351-BA21-F7DF1712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87D04-9C5C-D989-A895-1E3C09C9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407DB-E978-A3B2-4DB5-7FA1C4AC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4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D61F-82B0-755C-6C51-B8FD25C7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9A098-1FD8-8846-0754-EB023959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6D762-566A-C18B-93BA-28D4EEE79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D08E5-5891-1100-C358-AFFFB6C2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DAE6B-A3B9-0002-F26C-10AA0334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09A1B-1E84-C29F-6A5D-71B7D791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4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F2568-B8A2-A49A-409B-261D2254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841D7-E379-3F0E-BC6F-F61E9DFB4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B805E-B78A-661B-1F62-EB6EEFE7E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5A070-FDCF-AB6F-BE01-462C0508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E2E46-EC3B-6527-8C11-ED9C3150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1F9CE-7A9A-08D8-8F6A-045F55AE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3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6B9E-6123-B9BB-30D1-0A097EB9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D8E28-2CE6-AAC8-142B-79E1F21A4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B53F3-5811-A908-4086-B0FF62E5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7EA62-3710-42F2-6CBF-E16357A2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37C4-3A68-924D-A9F7-AA7B8D35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F471C-CB79-7E80-BA1D-DDB580D09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032A3-97DC-A321-ADA1-85999B66A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C72D-7ECB-7CA0-BF31-31C4F9B4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1E00-0FF8-1630-563F-C96000BA2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A085-40A5-AACE-2BAA-738F0093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3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19729-F72D-7094-21B7-BFB928F3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C9EF7-2DCF-A07A-28C1-39C1102B8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5055-35C1-396F-20E4-5E63AC63B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AC9EF-4E5C-4310-8298-C75EC6FF43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1FEDF-02A0-4720-7F76-35DB2F0DF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6E731-C8FA-0E56-F27B-3208D0C61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AB423-084D-4419-9CBA-3E31BCC1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3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5FC5-0B1A-02E3-1814-1DE6FE51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err="1"/>
              <a:t>Green’s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2DE745-9842-932B-5A3E-8874DB04410C}"/>
                  </a:ext>
                </a:extLst>
              </p:cNvPr>
              <p:cNvSpPr txBox="1"/>
              <p:nvPr/>
            </p:nvSpPr>
            <p:spPr>
              <a:xfrm>
                <a:off x="419835" y="2452330"/>
                <a:ext cx="4954241" cy="976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2DE745-9842-932B-5A3E-8874DB044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35" y="2452330"/>
                <a:ext cx="4954241" cy="976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3DA292-D8B2-7550-64F0-DFA024BDDAF4}"/>
                  </a:ext>
                </a:extLst>
              </p:cNvPr>
              <p:cNvSpPr txBox="1"/>
              <p:nvPr/>
            </p:nvSpPr>
            <p:spPr>
              <a:xfrm>
                <a:off x="5678128" y="2406164"/>
                <a:ext cx="6164826" cy="1069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3DA292-D8B2-7550-64F0-DFA024BDD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128" y="2406164"/>
                <a:ext cx="6164826" cy="10691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CC36D-3B23-1533-51DD-4C3DDF721BF3}"/>
                  </a:ext>
                </a:extLst>
              </p:cNvPr>
              <p:cNvSpPr txBox="1"/>
              <p:nvPr/>
            </p:nvSpPr>
            <p:spPr>
              <a:xfrm>
                <a:off x="2768072" y="4451836"/>
                <a:ext cx="6096000" cy="908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nary>
                      <m:r>
                        <a:rPr lang="it-IT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</m:t>
                      </m:r>
                      <m:sSup>
                        <m:sSup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CC36D-3B23-1533-51DD-4C3DDF721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72" y="4451836"/>
                <a:ext cx="6096000" cy="908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491CC1-76CD-6C0C-F5D7-66BADCAFC8B6}"/>
              </a:ext>
            </a:extLst>
          </p:cNvPr>
          <p:cNvCxnSpPr/>
          <p:nvPr/>
        </p:nvCxnSpPr>
        <p:spPr>
          <a:xfrm>
            <a:off x="5319252" y="2940733"/>
            <a:ext cx="481781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50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5D12-93DD-D755-87A7-79238A0E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Solution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F79B02-5962-F6A9-6134-4B71F896C32A}"/>
                  </a:ext>
                </a:extLst>
              </p:cNvPr>
              <p:cNvSpPr txBox="1"/>
              <p:nvPr/>
            </p:nvSpPr>
            <p:spPr>
              <a:xfrm>
                <a:off x="3048000" y="1348977"/>
                <a:ext cx="6096000" cy="908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nary>
                      <m:r>
                        <a:rPr lang="it-IT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2400" b="0" i="0">
                          <a:latin typeface="Cambria Math" panose="02040503050406030204" pitchFamily="18" charset="0"/>
                        </a:rPr>
                        <m:t>d</m:t>
                      </m:r>
                      <m:sSup>
                        <m:sSup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F79B02-5962-F6A9-6134-4B71F896C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348977"/>
                <a:ext cx="6096000" cy="9087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15F2559-BA97-C6F1-BEF9-0626E5140599}"/>
              </a:ext>
            </a:extLst>
          </p:cNvPr>
          <p:cNvGrpSpPr/>
          <p:nvPr/>
        </p:nvGrpSpPr>
        <p:grpSpPr>
          <a:xfrm>
            <a:off x="1922381" y="2828446"/>
            <a:ext cx="8347237" cy="2931765"/>
            <a:chOff x="947531" y="2775437"/>
            <a:chExt cx="8347237" cy="29317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210340-201B-7819-9D18-04D57578312F}"/>
                    </a:ext>
                  </a:extLst>
                </p:cNvPr>
                <p:cNvSpPr txBox="1"/>
                <p:nvPr/>
              </p:nvSpPr>
              <p:spPr>
                <a:xfrm>
                  <a:off x="947531" y="2775437"/>
                  <a:ext cx="8347237" cy="29317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it-IT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f>
                                  <m:f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d>
                                          <m:d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p>
                                          <m:sSup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𝛾</m:t>
                                            </m:r>
                                          </m:e>
                                          <m: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  <m:func>
                                  <m:func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 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𝛾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it-IT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d>
                                      <m:d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sup>
                                </m:sSup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f>
                                  <m:f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d>
                                          <m:d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𝛾</m:t>
                                            </m:r>
                                          </m:e>
                                          <m:sup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bSup>
                                          <m:sSubSupPr>
                                            <m:ctrlP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it-IT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  <m:func>
                                  <m:func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sinh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𝛾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 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rad>
                                        <m:d>
                                          <m:d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it-IT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210340-201B-7819-9D18-04D575783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31" y="2775437"/>
                  <a:ext cx="8347237" cy="29317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AEDA15-9AFF-CC27-B608-7B41F568387A}"/>
                    </a:ext>
                  </a:extLst>
                </p:cNvPr>
                <p:cNvSpPr txBox="1"/>
                <p:nvPr/>
              </p:nvSpPr>
              <p:spPr>
                <a:xfrm>
                  <a:off x="7513982" y="3012860"/>
                  <a:ext cx="9998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AEDA15-9AFF-CC27-B608-7B41F5683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3982" y="3012860"/>
                  <a:ext cx="99988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268" r="-5488" b="-196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B5EE4DD-99A0-23C4-1112-CE55F03414CA}"/>
                    </a:ext>
                  </a:extLst>
                </p:cNvPr>
                <p:cNvSpPr txBox="1"/>
                <p:nvPr/>
              </p:nvSpPr>
              <p:spPr>
                <a:xfrm>
                  <a:off x="7513982" y="4854912"/>
                  <a:ext cx="9998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B5EE4DD-99A0-23C4-1112-CE55F0341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3982" y="4854912"/>
                  <a:ext cx="99988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268" r="-5488" b="-213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C916F8-0021-AF8E-63E8-D2277399B902}"/>
                    </a:ext>
                  </a:extLst>
                </p:cNvPr>
                <p:cNvSpPr txBox="1"/>
                <p:nvPr/>
              </p:nvSpPr>
              <p:spPr>
                <a:xfrm>
                  <a:off x="7513981" y="3962866"/>
                  <a:ext cx="998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C916F8-0021-AF8E-63E8-D2277399B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3981" y="3962866"/>
                  <a:ext cx="99828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294" r="-6135" b="-2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099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91CFE-93B8-A9D9-ABE3-8330F8BBE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467" y="643467"/>
            <a:ext cx="5571066" cy="55710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2ACECC-1A83-B6EA-DC12-0FE360AB2EB4}"/>
                  </a:ext>
                </a:extLst>
              </p:cNvPr>
              <p:cNvSpPr txBox="1"/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2ACECC-1A83-B6EA-DC12-0FE360AB2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88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11394-76B2-7E0F-EDC0-874DCA887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433" y="742950"/>
            <a:ext cx="5372100" cy="5372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029DA-91A3-80DF-0B42-D0A13FC12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6" y="742950"/>
            <a:ext cx="5372099" cy="53720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DB00DA-0A12-0C8A-1024-DF0243F7E62A}"/>
                  </a:ext>
                </a:extLst>
              </p:cNvPr>
              <p:cNvSpPr txBox="1"/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DB00DA-0A12-0C8A-1024-DF0243F7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50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411BB-C5C7-2AAC-DBA7-41A844A8B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433" y="742950"/>
            <a:ext cx="5372100" cy="53721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8B3AF5-3C86-9FEA-CB42-EEBB44D8A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6" y="742950"/>
            <a:ext cx="5372099" cy="53720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969C81-E94E-2723-3D8B-3F4CEC4CD61A}"/>
                  </a:ext>
                </a:extLst>
              </p:cNvPr>
              <p:cNvSpPr txBox="1"/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969C81-E94E-2723-3D8B-3F4CEC4CD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0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D468A-1386-9FF0-D07B-92430974D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433" y="742950"/>
            <a:ext cx="5372100" cy="53721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296EEC-D00B-4820-DFF7-3506B42DA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5" y="742949"/>
            <a:ext cx="5372100" cy="5372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82451-2247-BCE9-F447-D965C716F066}"/>
                  </a:ext>
                </a:extLst>
              </p:cNvPr>
              <p:cNvSpPr txBox="1"/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282451-2247-BCE9-F447-D965C716F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3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FFFD0-4E71-E612-B49F-3D0DABE6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5AA142-E675-AC8F-3212-C1353600F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01C87-5396-6CA1-0B30-F8B297A48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433" y="742950"/>
            <a:ext cx="5372100" cy="53721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478753A-8F17-DE27-6991-5DB868B7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lage of different types of waves&#10;&#10;AI-generated content may be incorrect.">
            <a:extLst>
              <a:ext uri="{FF2B5EF4-FFF2-40B4-BE49-F238E27FC236}">
                <a16:creationId xmlns:a16="http://schemas.microsoft.com/office/drawing/2014/main" id="{3C3E5EC0-F643-8418-B359-6BF4C4FA0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86" b="1"/>
          <a:stretch>
            <a:fillRect/>
          </a:stretch>
        </p:blipFill>
        <p:spPr>
          <a:xfrm>
            <a:off x="6176433" y="742947"/>
            <a:ext cx="5335362" cy="5372102"/>
          </a:xfrm>
          <a:prstGeom prst="rect">
            <a:avLst/>
          </a:prstGeom>
        </p:spPr>
      </p:pic>
      <p:pic>
        <p:nvPicPr>
          <p:cNvPr id="4" name="Picture 3" descr="A collage of different types of waves&#10;&#10;AI-generated content may be incorrect.">
            <a:extLst>
              <a:ext uri="{FF2B5EF4-FFF2-40B4-BE49-F238E27FC236}">
                <a16:creationId xmlns:a16="http://schemas.microsoft.com/office/drawing/2014/main" id="{4F529173-77CC-8096-2B60-9400FF18D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" r="2" b="2"/>
          <a:stretch>
            <a:fillRect/>
          </a:stretch>
        </p:blipFill>
        <p:spPr>
          <a:xfrm>
            <a:off x="700858" y="742947"/>
            <a:ext cx="5335364" cy="53721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700667-0072-C57F-0D80-DA947F8F41B0}"/>
                  </a:ext>
                </a:extLst>
              </p:cNvPr>
              <p:cNvSpPr txBox="1"/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700667-0072-C57F-0D80-DA947F8F4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26" y="-12383"/>
                <a:ext cx="155234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55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yellow graph&#10;&#10;AI-generated content may be incorrect.">
            <a:extLst>
              <a:ext uri="{FF2B5EF4-FFF2-40B4-BE49-F238E27FC236}">
                <a16:creationId xmlns:a16="http://schemas.microsoft.com/office/drawing/2014/main" id="{1D7BC756-68BA-C03B-6D5B-5479A03FE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1" y="3592473"/>
            <a:ext cx="5249790" cy="3149872"/>
          </a:xfrm>
          <a:prstGeom prst="rect">
            <a:avLst/>
          </a:prstGeom>
        </p:spPr>
      </p:pic>
      <p:pic>
        <p:nvPicPr>
          <p:cNvPr id="12" name="Picture 11" descr="A blue and red and yellow lines&#10;&#10;AI-generated content may be incorrect.">
            <a:extLst>
              <a:ext uri="{FF2B5EF4-FFF2-40B4-BE49-F238E27FC236}">
                <a16:creationId xmlns:a16="http://schemas.microsoft.com/office/drawing/2014/main" id="{2F680D2F-8522-63BE-254D-ACB8C3E01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237" y="3592473"/>
            <a:ext cx="5249790" cy="3149872"/>
          </a:xfrm>
          <a:prstGeom prst="rect">
            <a:avLst/>
          </a:prstGeom>
        </p:spPr>
      </p:pic>
      <p:pic>
        <p:nvPicPr>
          <p:cNvPr id="3" name="Picture 2" descr="A blue and black graph&#10;&#10;AI-generated content may be incorrect.">
            <a:extLst>
              <a:ext uri="{FF2B5EF4-FFF2-40B4-BE49-F238E27FC236}">
                <a16:creationId xmlns:a16="http://schemas.microsoft.com/office/drawing/2014/main" id="{76493759-2242-EF32-A442-2FC061C5C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4" y="458294"/>
            <a:ext cx="5249788" cy="3149872"/>
          </a:xfrm>
          <a:prstGeom prst="rect">
            <a:avLst/>
          </a:prstGeom>
        </p:spPr>
      </p:pic>
      <p:pic>
        <p:nvPicPr>
          <p:cNvPr id="5" name="Picture 4" descr="A blue and black background with a rainbow&#10;&#10;AI-generated content may be incorrect.">
            <a:extLst>
              <a:ext uri="{FF2B5EF4-FFF2-40B4-BE49-F238E27FC236}">
                <a16:creationId xmlns:a16="http://schemas.microsoft.com/office/drawing/2014/main" id="{B9356766-BEDC-6F85-F077-C9BD86E52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238" y="458294"/>
            <a:ext cx="5249788" cy="31498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94656F-1A40-70EB-2695-3515AFCBFB1F}"/>
              </a:ext>
            </a:extLst>
          </p:cNvPr>
          <p:cNvSpPr txBox="1"/>
          <p:nvPr/>
        </p:nvSpPr>
        <p:spPr>
          <a:xfrm>
            <a:off x="2119776" y="312350"/>
            <a:ext cx="22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Full </a:t>
            </a:r>
            <a:r>
              <a:rPr lang="it-IT" dirty="0" err="1"/>
              <a:t>Green’s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3977F-64F2-FF8D-7E60-9C37040937AD}"/>
              </a:ext>
            </a:extLst>
          </p:cNvPr>
          <p:cNvSpPr txBox="1"/>
          <p:nvPr/>
        </p:nvSpPr>
        <p:spPr>
          <a:xfrm>
            <a:off x="7986236" y="312350"/>
            <a:ext cx="195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Envelope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4030AA-CF4A-83A6-DB5A-7857F77A86E2}"/>
              </a:ext>
            </a:extLst>
          </p:cNvPr>
          <p:cNvSpPr txBox="1"/>
          <p:nvPr/>
        </p:nvSpPr>
        <p:spPr>
          <a:xfrm>
            <a:off x="549393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3640D1-7B83-A3E5-8EB7-15D6F353524A}"/>
              </a:ext>
            </a:extLst>
          </p:cNvPr>
          <p:cNvSpPr txBox="1"/>
          <p:nvPr/>
        </p:nvSpPr>
        <p:spPr>
          <a:xfrm>
            <a:off x="6214697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C4C8FC-7885-EEDD-AB8F-77A243C7A325}"/>
              </a:ext>
            </a:extLst>
          </p:cNvPr>
          <p:cNvSpPr txBox="1"/>
          <p:nvPr/>
        </p:nvSpPr>
        <p:spPr>
          <a:xfrm>
            <a:off x="549393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1C245-0C3E-9EAC-0D53-CA78B3088BBB}"/>
              </a:ext>
            </a:extLst>
          </p:cNvPr>
          <p:cNvSpPr txBox="1"/>
          <p:nvPr/>
        </p:nvSpPr>
        <p:spPr>
          <a:xfrm>
            <a:off x="6216630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804E3F-BFA8-FAAE-C0D8-2B58FAA2F0F8}"/>
              </a:ext>
            </a:extLst>
          </p:cNvPr>
          <p:cNvSpPr txBox="1"/>
          <p:nvPr/>
        </p:nvSpPr>
        <p:spPr>
          <a:xfrm rot="16200000">
            <a:off x="-498493" y="1942585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High Q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1F68D2-3CF3-C55E-C1DF-522C5BEA7F80}"/>
              </a:ext>
            </a:extLst>
          </p:cNvPr>
          <p:cNvSpPr txBox="1"/>
          <p:nvPr/>
        </p:nvSpPr>
        <p:spPr>
          <a:xfrm rot="16200000">
            <a:off x="-498495" y="4930820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Low Q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AD02-62C5-ABCE-F1B6-D5358F98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1B6F9D-8D61-E880-909F-121E324E6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973" y="3592473"/>
            <a:ext cx="5249786" cy="314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029B38-17DB-D049-E6E0-8B38EB7FF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9239" y="3592473"/>
            <a:ext cx="5249786" cy="31498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2CCB7E-D188-B719-77C4-174443E7A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975" y="458294"/>
            <a:ext cx="5249786" cy="3149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E8C03-83B1-6914-2172-41A1090D78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9239" y="458294"/>
            <a:ext cx="5249786" cy="31498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B32E8B-FCC2-8485-43AA-F568883E921F}"/>
              </a:ext>
            </a:extLst>
          </p:cNvPr>
          <p:cNvSpPr txBox="1"/>
          <p:nvPr/>
        </p:nvSpPr>
        <p:spPr>
          <a:xfrm>
            <a:off x="2119776" y="312350"/>
            <a:ext cx="22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Full </a:t>
            </a:r>
            <a:r>
              <a:rPr lang="it-IT" dirty="0" err="1"/>
              <a:t>Green’s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243E0-D3EF-B58D-0641-5BA532F4E8CF}"/>
              </a:ext>
            </a:extLst>
          </p:cNvPr>
          <p:cNvSpPr txBox="1"/>
          <p:nvPr/>
        </p:nvSpPr>
        <p:spPr>
          <a:xfrm>
            <a:off x="7986236" y="312350"/>
            <a:ext cx="195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Envelope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0A0B7A-7F75-45CF-A919-E7B3BDE027E7}"/>
              </a:ext>
            </a:extLst>
          </p:cNvPr>
          <p:cNvSpPr txBox="1"/>
          <p:nvPr/>
        </p:nvSpPr>
        <p:spPr>
          <a:xfrm>
            <a:off x="549393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A9D73-3D9E-C6F4-0016-1BA074A1BE36}"/>
              </a:ext>
            </a:extLst>
          </p:cNvPr>
          <p:cNvSpPr txBox="1"/>
          <p:nvPr/>
        </p:nvSpPr>
        <p:spPr>
          <a:xfrm>
            <a:off x="6214697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844E8F-BC18-18F9-DC08-541464E9BA38}"/>
              </a:ext>
            </a:extLst>
          </p:cNvPr>
          <p:cNvSpPr txBox="1"/>
          <p:nvPr/>
        </p:nvSpPr>
        <p:spPr>
          <a:xfrm>
            <a:off x="549393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0E5EE2-1C26-FCFA-4345-79ED51A22D25}"/>
              </a:ext>
            </a:extLst>
          </p:cNvPr>
          <p:cNvSpPr txBox="1"/>
          <p:nvPr/>
        </p:nvSpPr>
        <p:spPr>
          <a:xfrm>
            <a:off x="6216630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DCCDA-8FEE-8248-80AA-A87A6DC43729}"/>
              </a:ext>
            </a:extLst>
          </p:cNvPr>
          <p:cNvSpPr txBox="1"/>
          <p:nvPr/>
        </p:nvSpPr>
        <p:spPr>
          <a:xfrm rot="16200000">
            <a:off x="-498493" y="1942585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High Q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E1572-0BC3-B421-27D4-EEE989E9CFAC}"/>
              </a:ext>
            </a:extLst>
          </p:cNvPr>
          <p:cNvSpPr txBox="1"/>
          <p:nvPr/>
        </p:nvSpPr>
        <p:spPr>
          <a:xfrm rot="16200000">
            <a:off x="-498495" y="4930820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Low Q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287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FF15-6181-8891-93A2-E896A692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4586D-4AF4-B45F-5B87-9114A8203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973" y="3592473"/>
            <a:ext cx="5249786" cy="314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686842-F920-625A-946C-ABCE46E80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9239" y="3592473"/>
            <a:ext cx="5249786" cy="31498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B49A7A-ED99-76B4-1FDD-329D00838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975" y="458294"/>
            <a:ext cx="5249786" cy="3149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9743C-0FFC-D75F-27C2-2E7276C20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9239" y="458294"/>
            <a:ext cx="5249786" cy="31498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B06A7-EE51-A8AE-B14C-800B8855D2DB}"/>
              </a:ext>
            </a:extLst>
          </p:cNvPr>
          <p:cNvSpPr txBox="1"/>
          <p:nvPr/>
        </p:nvSpPr>
        <p:spPr>
          <a:xfrm>
            <a:off x="2119776" y="312350"/>
            <a:ext cx="22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Full </a:t>
            </a:r>
            <a:r>
              <a:rPr lang="it-IT" dirty="0" err="1"/>
              <a:t>Green’s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38FC1-2052-F2ED-1B92-86431F77CD72}"/>
              </a:ext>
            </a:extLst>
          </p:cNvPr>
          <p:cNvSpPr txBox="1"/>
          <p:nvPr/>
        </p:nvSpPr>
        <p:spPr>
          <a:xfrm>
            <a:off x="7986236" y="312350"/>
            <a:ext cx="195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Envelope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54B9A-4B2F-37A1-6349-3C8A5E5A8DE8}"/>
              </a:ext>
            </a:extLst>
          </p:cNvPr>
          <p:cNvSpPr txBox="1"/>
          <p:nvPr/>
        </p:nvSpPr>
        <p:spPr>
          <a:xfrm>
            <a:off x="549393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554BF-0947-F62D-E5FF-896F6B641011}"/>
              </a:ext>
            </a:extLst>
          </p:cNvPr>
          <p:cNvSpPr txBox="1"/>
          <p:nvPr/>
        </p:nvSpPr>
        <p:spPr>
          <a:xfrm>
            <a:off x="6214697" y="849063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54B2D-7061-780E-B075-2D9AF3124226}"/>
              </a:ext>
            </a:extLst>
          </p:cNvPr>
          <p:cNvSpPr txBox="1"/>
          <p:nvPr/>
        </p:nvSpPr>
        <p:spPr>
          <a:xfrm>
            <a:off x="549393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E779C-297F-2F1D-C983-E18A5FECD446}"/>
              </a:ext>
            </a:extLst>
          </p:cNvPr>
          <p:cNvSpPr txBox="1"/>
          <p:nvPr/>
        </p:nvSpPr>
        <p:spPr>
          <a:xfrm>
            <a:off x="6216630" y="3983242"/>
            <a:ext cx="76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Strain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F0A58-E625-FB66-008B-3B7F31CC8FD4}"/>
              </a:ext>
            </a:extLst>
          </p:cNvPr>
          <p:cNvSpPr txBox="1"/>
          <p:nvPr/>
        </p:nvSpPr>
        <p:spPr>
          <a:xfrm rot="16200000">
            <a:off x="-498493" y="1942585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High Q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9D3FB-6DCC-017F-6DE0-0CF6D75E6B89}"/>
              </a:ext>
            </a:extLst>
          </p:cNvPr>
          <p:cNvSpPr txBox="1"/>
          <p:nvPr/>
        </p:nvSpPr>
        <p:spPr>
          <a:xfrm rot="16200000">
            <a:off x="-498495" y="4930820"/>
            <a:ext cx="167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Low Q</a:t>
            </a:r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BF414E-2CC6-660F-BF75-8117046A7658}"/>
              </a:ext>
            </a:extLst>
          </p:cNvPr>
          <p:cNvSpPr/>
          <p:nvPr/>
        </p:nvSpPr>
        <p:spPr>
          <a:xfrm>
            <a:off x="-92765" y="0"/>
            <a:ext cx="12397408" cy="699052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D1D10-EAEE-AB62-AE7F-A93D33915D59}"/>
              </a:ext>
            </a:extLst>
          </p:cNvPr>
          <p:cNvSpPr txBox="1"/>
          <p:nvPr/>
        </p:nvSpPr>
        <p:spPr>
          <a:xfrm>
            <a:off x="4175121" y="3464691"/>
            <a:ext cx="3861636" cy="715089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it-IT" sz="3600" dirty="0"/>
              <a:t>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715607-81C5-5B5F-828C-06B30C458089}"/>
                  </a:ext>
                </a:extLst>
              </p:cNvPr>
              <p:cNvSpPr txBox="1"/>
              <p:nvPr/>
            </p:nvSpPr>
            <p:spPr>
              <a:xfrm>
                <a:off x="1165637" y="3464692"/>
                <a:ext cx="3861636" cy="715089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600" dirty="0" err="1"/>
                  <a:t>Run</a:t>
                </a:r>
                <a:r>
                  <a:rPr lang="it-IT" sz="3600" dirty="0"/>
                  <a:t> time </a:t>
                </a:r>
                <a14:m>
                  <m:oMath xmlns:m="http://schemas.openxmlformats.org/officeDocument/2006/math">
                    <m:r>
                      <a:rPr lang="it-IT" sz="36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3600" b="0" i="1" smtClean="0">
                        <a:latin typeface="Cambria Math" panose="02040503050406030204" pitchFamily="18" charset="0"/>
                      </a:rPr>
                      <m:t>85</m:t>
                    </m:r>
                    <m:r>
                      <a:rPr lang="it-IT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3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it-IT" sz="3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715607-81C5-5B5F-828C-06B30C458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637" y="3464692"/>
                <a:ext cx="3861636" cy="715089"/>
              </a:xfrm>
              <a:prstGeom prst="roundRect">
                <a:avLst/>
              </a:prstGeom>
              <a:blipFill>
                <a:blip r:embed="rId6"/>
                <a:stretch>
                  <a:fillRect t="-6780" b="-27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423148-407A-54F3-92D3-1ECA74DC3BDF}"/>
                  </a:ext>
                </a:extLst>
              </p:cNvPr>
              <p:cNvSpPr txBox="1"/>
              <p:nvPr/>
            </p:nvSpPr>
            <p:spPr>
              <a:xfrm>
                <a:off x="7400785" y="3464691"/>
                <a:ext cx="3861636" cy="715089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600" dirty="0"/>
                  <a:t>Run time </a:t>
                </a:r>
                <a14:m>
                  <m:oMath xmlns:m="http://schemas.openxmlformats.org/officeDocument/2006/math">
                    <m:r>
                      <a:rPr lang="it-IT" sz="36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3600" b="0" i="1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it-IT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3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it-IT" sz="3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423148-407A-54F3-92D3-1ECA74DC3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785" y="3464691"/>
                <a:ext cx="3861636" cy="715089"/>
              </a:xfrm>
              <a:prstGeom prst="roundRect">
                <a:avLst/>
              </a:prstGeom>
              <a:blipFill>
                <a:blip r:embed="rId7"/>
                <a:stretch>
                  <a:fillRect t="-6780" b="-27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03A8A1A-8632-1060-E27A-9614835D971B}"/>
              </a:ext>
            </a:extLst>
          </p:cNvPr>
          <p:cNvSpPr txBox="1"/>
          <p:nvPr/>
        </p:nvSpPr>
        <p:spPr>
          <a:xfrm>
            <a:off x="4165181" y="4606226"/>
            <a:ext cx="3861636" cy="1328023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it-IT" sz="3600" dirty="0"/>
              <a:t>200x </a:t>
            </a:r>
          </a:p>
          <a:p>
            <a:pPr algn="ctr"/>
            <a:r>
              <a:rPr lang="it-IT" sz="3600" dirty="0"/>
              <a:t>Speed-up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F2B4B7-D59F-94B9-D1E5-530975EE50E6}"/>
              </a:ext>
            </a:extLst>
          </p:cNvPr>
          <p:cNvSpPr txBox="1"/>
          <p:nvPr/>
        </p:nvSpPr>
        <p:spPr>
          <a:xfrm>
            <a:off x="2119776" y="308317"/>
            <a:ext cx="22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Full </a:t>
            </a:r>
            <a:r>
              <a:rPr lang="it-IT" dirty="0" err="1"/>
              <a:t>Green’s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E5ED43-2D21-8746-B6F9-4AD367AE24F6}"/>
              </a:ext>
            </a:extLst>
          </p:cNvPr>
          <p:cNvSpPr txBox="1"/>
          <p:nvPr/>
        </p:nvSpPr>
        <p:spPr>
          <a:xfrm>
            <a:off x="7986236" y="308317"/>
            <a:ext cx="195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Envelope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140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1979DF4-4C46-B3FA-BC17-B17EC662D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568" y="1137969"/>
            <a:ext cx="3209543" cy="427939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24CC36-55A0-4ECD-A8BA-500DA05CF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3" y="1137969"/>
            <a:ext cx="3209543" cy="427939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AC0782A-6AF1-6AC9-5B7C-79E3D1E9C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5887" y="1137969"/>
            <a:ext cx="3209543" cy="42793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C30E85-3553-B2AF-D651-A34D70518587}"/>
                  </a:ext>
                </a:extLst>
              </p:cNvPr>
              <p:cNvSpPr txBox="1"/>
              <p:nvPr/>
            </p:nvSpPr>
            <p:spPr>
              <a:xfrm>
                <a:off x="2411895" y="6002674"/>
                <a:ext cx="3599768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𝑠𝑡𝑒𝑎𝑑𝑦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C30E85-3553-B2AF-D651-A34D70518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895" y="6002674"/>
                <a:ext cx="3599768" cy="567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7930F-A93F-CAA6-3B1C-98F3AB048FAA}"/>
                  </a:ext>
                </a:extLst>
              </p:cNvPr>
              <p:cNvSpPr txBox="1"/>
              <p:nvPr/>
            </p:nvSpPr>
            <p:spPr>
              <a:xfrm>
                <a:off x="7109790" y="5978821"/>
                <a:ext cx="3265189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𝑠𝑡𝑒𝑎𝑑𝑦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7930F-A93F-CAA6-3B1C-98F3AB048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790" y="5978821"/>
                <a:ext cx="3265189" cy="5727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109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diagrams with text&#10;&#10;AI-generated content may be incorrect.">
            <a:extLst>
              <a:ext uri="{FF2B5EF4-FFF2-40B4-BE49-F238E27FC236}">
                <a16:creationId xmlns:a16="http://schemas.microsoft.com/office/drawing/2014/main" id="{5DCEE08C-3E57-02E9-094F-EA100A490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467" y="643467"/>
            <a:ext cx="5571066" cy="5571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8BF872-B5FF-E377-3A88-66AAF7D797FA}"/>
              </a:ext>
            </a:extLst>
          </p:cNvPr>
          <p:cNvSpPr txBox="1"/>
          <p:nvPr/>
        </p:nvSpPr>
        <p:spPr>
          <a:xfrm>
            <a:off x="5403342" y="583095"/>
            <a:ext cx="13853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/>
              <a:t>Chirp </a:t>
            </a:r>
            <a:r>
              <a:rPr lang="it-IT" dirty="0" err="1"/>
              <a:t>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436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llage of different types of waves&#10;&#10;AI-generated content may be incorrect.">
            <a:extLst>
              <a:ext uri="{FF2B5EF4-FFF2-40B4-BE49-F238E27FC236}">
                <a16:creationId xmlns:a16="http://schemas.microsoft.com/office/drawing/2014/main" id="{B37FBA5F-C214-0E1E-C186-0B53D604B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24" y="1616149"/>
            <a:ext cx="3625700" cy="3625702"/>
          </a:xfrm>
          <a:prstGeom prst="rect">
            <a:avLst/>
          </a:prstGeom>
        </p:spPr>
      </p:pic>
      <p:pic>
        <p:nvPicPr>
          <p:cNvPr id="13" name="Picture 12" descr="A collage of different types of waves&#10;&#10;AI-generated content may be incorrect.">
            <a:extLst>
              <a:ext uri="{FF2B5EF4-FFF2-40B4-BE49-F238E27FC236}">
                <a16:creationId xmlns:a16="http://schemas.microsoft.com/office/drawing/2014/main" id="{6FED02FB-07A6-D46F-2251-A1099E4EA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150" y="1616149"/>
            <a:ext cx="3625700" cy="3625702"/>
          </a:xfrm>
          <a:prstGeom prst="rect">
            <a:avLst/>
          </a:prstGeom>
        </p:spPr>
      </p:pic>
      <p:pic>
        <p:nvPicPr>
          <p:cNvPr id="15" name="Picture 14" descr="A collage of graphs&#10;&#10;AI-generated content may be incorrect.">
            <a:extLst>
              <a:ext uri="{FF2B5EF4-FFF2-40B4-BE49-F238E27FC236}">
                <a16:creationId xmlns:a16="http://schemas.microsoft.com/office/drawing/2014/main" id="{804B5DE7-4E6D-E3FB-D774-B303AADD4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578" y="1616149"/>
            <a:ext cx="3625700" cy="36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1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A7E7-5A17-112D-BAA1-9B5EAC91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4945004-5D41-3458-5837-8E392AB25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724" y="1616150"/>
            <a:ext cx="3625700" cy="3625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0563C4-3CFC-69E5-1BB7-4D587255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3150" y="1616150"/>
            <a:ext cx="3625700" cy="3625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BEC79-02BB-BB0A-E9A6-3264F9BBD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7578" y="1616150"/>
            <a:ext cx="3625700" cy="36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43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0128-484E-AF3D-5558-93E9AC44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different types of waves&#10;&#10;AI-generated content may be incorrect.">
            <a:extLst>
              <a:ext uri="{FF2B5EF4-FFF2-40B4-BE49-F238E27FC236}">
                <a16:creationId xmlns:a16="http://schemas.microsoft.com/office/drawing/2014/main" id="{975EA1AA-C3B9-3EAB-4A55-E64715E67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577" y="1616150"/>
            <a:ext cx="3625701" cy="3625701"/>
          </a:xfrm>
          <a:prstGeom prst="rect">
            <a:avLst/>
          </a:prstGeom>
        </p:spPr>
      </p:pic>
      <p:pic>
        <p:nvPicPr>
          <p:cNvPr id="5" name="Picture 4" descr="A collage of different waves&#10;&#10;AI-generated content may be incorrect.">
            <a:extLst>
              <a:ext uri="{FF2B5EF4-FFF2-40B4-BE49-F238E27FC236}">
                <a16:creationId xmlns:a16="http://schemas.microsoft.com/office/drawing/2014/main" id="{0FBA9EED-7732-19C7-EF9A-2CCB8E6EA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150" y="1616150"/>
            <a:ext cx="3625700" cy="3625700"/>
          </a:xfrm>
          <a:prstGeom prst="rect">
            <a:avLst/>
          </a:prstGeom>
        </p:spPr>
      </p:pic>
      <p:pic>
        <p:nvPicPr>
          <p:cNvPr id="7" name="Picture 6" descr="A group of black and white diagrams&#10;&#10;AI-generated content may be incorrect.">
            <a:extLst>
              <a:ext uri="{FF2B5EF4-FFF2-40B4-BE49-F238E27FC236}">
                <a16:creationId xmlns:a16="http://schemas.microsoft.com/office/drawing/2014/main" id="{37650498-7CBB-4441-F31D-B16EA1967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22" y="1616150"/>
            <a:ext cx="3625700" cy="36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46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B5D8-1FF9-6966-A80F-C21858C78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Backup slides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DFD76-3D1E-0A4C-0D74-535652150B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5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D60A8A-152B-8E32-85AC-6A6A5E8356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D60A8A-152B-8E32-85AC-6A6A5E835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EA8B6053-8D90-DBC1-17BC-228B32A33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416" y="1886585"/>
            <a:ext cx="5801784" cy="4351338"/>
          </a:xfrm>
        </p:spPr>
      </p:pic>
      <p:pic>
        <p:nvPicPr>
          <p:cNvPr id="7" name="Picture 6" descr="A black and white image of a waveform&#10;&#10;AI-generated content may be incorrect.">
            <a:extLst>
              <a:ext uri="{FF2B5EF4-FFF2-40B4-BE49-F238E27FC236}">
                <a16:creationId xmlns:a16="http://schemas.microsoft.com/office/drawing/2014/main" id="{D292AFCF-2E54-02C6-5223-41B6D5313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16" y="2001520"/>
            <a:ext cx="5715000" cy="381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10E127-F8F9-9FEE-89D4-B82265BD3616}"/>
                  </a:ext>
                </a:extLst>
              </p:cNvPr>
              <p:cNvSpPr txBox="1"/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10E127-F8F9-9FEE-89D4-B82265BD3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421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58B3-BAFD-BD9B-CB8F-6D86AAFC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452CDF-C818-AB0E-74D0-E0007A18D6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452CDF-C818-AB0E-74D0-E0007A18D6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F8915D2E-3E58-0A12-3DF2-F109832A8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416" y="1886585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86051-EABF-178A-B16B-1BBA1A03A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16" y="2001520"/>
            <a:ext cx="5715000" cy="381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E68C09-E521-9C69-45B6-F1119DF4C824}"/>
                  </a:ext>
                </a:extLst>
              </p:cNvPr>
              <p:cNvSpPr txBox="1"/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×4.8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E68C09-E521-9C69-45B6-F1119DF4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0A7213-0CF3-B7A6-A964-E34AAA2E2422}"/>
              </a:ext>
            </a:extLst>
          </p:cNvPr>
          <p:cNvCxnSpPr/>
          <p:nvPr/>
        </p:nvCxnSpPr>
        <p:spPr>
          <a:xfrm>
            <a:off x="6971071" y="4709652"/>
            <a:ext cx="374609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527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9EDE7-D594-A134-04B7-A0782BE6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1B19F5-BF09-D275-34B6-320E3C8534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1B19F5-BF09-D275-34B6-320E3C8534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94F61-F17E-F351-080D-9F501A232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2416" y="1886585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F5A534-10ED-71F3-8D8D-97DFFE7FC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16" y="2001520"/>
            <a:ext cx="5715000" cy="381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0D40DD-EA5D-929D-F294-C6B51EDA28B6}"/>
                  </a:ext>
                </a:extLst>
              </p:cNvPr>
              <p:cNvSpPr txBox="1"/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×5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0D40DD-EA5D-929D-F294-C6B51EDA2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" y="1759387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640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CD69EA-82FC-B83D-26DF-45B89E2E46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CD69EA-82FC-B83D-26DF-45B89E2E4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FDFD7737-EDCD-AB21-22F1-290E9CDAA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41" y="2274569"/>
            <a:ext cx="5323522" cy="3549015"/>
          </a:xfrm>
        </p:spPr>
      </p:pic>
      <p:pic>
        <p:nvPicPr>
          <p:cNvPr id="8" name="Picture 7" descr="A black and white image of a graph&#10;&#10;AI-generated content may be incorrect.">
            <a:extLst>
              <a:ext uri="{FF2B5EF4-FFF2-40B4-BE49-F238E27FC236}">
                <a16:creationId xmlns:a16="http://schemas.microsoft.com/office/drawing/2014/main" id="{26756288-00B4-2728-CAAE-A88C369BA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96" y="2274569"/>
            <a:ext cx="5323523" cy="35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3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210</Words>
  <Application>Microsoft Office PowerPoint</Application>
  <PresentationFormat>Widescreen</PresentationFormat>
  <Paragraphs>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Green’s function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slides</vt:lpstr>
      <vt:lpstr>ω_m=2π×5 MHz- Q=10^7</vt:lpstr>
      <vt:lpstr>ω_m=2π×5 MHz- Q=10^7</vt:lpstr>
      <vt:lpstr>ω_m=2π×5 MHz- Q=10^2</vt:lpstr>
      <vt:lpstr>ω_m=2π×5 MHz - Q=10^2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d.labranca@campus.unimib.it</dc:creator>
  <cp:lastModifiedBy>d.labranca@campus.unimib.it</cp:lastModifiedBy>
  <cp:revision>14</cp:revision>
  <dcterms:created xsi:type="dcterms:W3CDTF">2025-12-09T15:17:28Z</dcterms:created>
  <dcterms:modified xsi:type="dcterms:W3CDTF">2025-12-15T15:27:24Z</dcterms:modified>
</cp:coreProperties>
</file>